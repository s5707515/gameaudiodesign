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5" r:id="rId19"/>
    <p:sldId id="262" r:id="rId20"/>
    <p:sldId id="26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0EE20-8034-4089-8C1A-C269AE308ACD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068C9-7DA1-4EF7-9D68-F089B7AF17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06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1147-27D1-99D7-293F-9A94350D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91FCE-4664-E51B-56B0-CDB745492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87B57-94CA-A4E7-D743-3496757BA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A2C99-EBC9-0464-5E04-97745D93C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068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EFE7-4091-8377-21E0-3C509D1F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9200F-F29F-FC16-8618-2ECFE0DC4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4F3FB-E6F6-CF7E-DCE7-2F28904E6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F0B52-8B13-D063-0157-C1597B998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07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4F28-3A88-2492-2F03-22530BF05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9D4C9-1ED3-5E10-8CF0-62F436D8B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CD1FA-8EDC-98C6-70CD-9B70F821C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D70A4-08DF-EC6D-A8C3-2684C4549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893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D509-8A41-D896-DB58-BC06A9AE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65D4C-3564-07E0-86B8-93D8402DD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472CE-A511-49B4-DE45-F80799AD6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7EF96-AAE5-C715-A777-BDB256CC6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129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189B-0B70-9C72-8D55-5410528C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D8969-5EB5-5A0F-74B6-EE6EB155F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00C43-4658-960D-7874-A291D3204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5D083-A47C-827D-4C54-E138C58E0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720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9B1E-97D8-A998-B0F0-784967EE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572EF-BA85-FEB5-93BB-857094473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ABD9B-BA02-33AC-14EB-FD5EBFE02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4A480-35AE-8A19-FF46-D51D06D76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53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992A5-6EFD-FD1C-FE73-1EA5C397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A22B5-6C44-0462-63B0-BC18167EC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8BECA-F44A-16F9-B446-440203C71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145B6-BC14-9C49-238E-51FE88EFE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92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76A4-59DF-0324-634B-7E494566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5E2CF-BB01-77BA-CCF3-DAF5BE58D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0F8CF-B6B6-85BA-71F4-2CC14A3B5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438C1-F1E4-03FC-23A9-EE0452270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442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66C4B-9E8C-5F52-EA74-3B02A5DA0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D7C57-A6B3-34E9-0C7D-4DB55559D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83610-DBF7-3ACB-7A92-B875259BB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854FB-7A46-0A6B-261F-5EE1730DA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124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2021-3645-034F-779C-D6702D0A0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44F58-6B7B-5ABD-9E8D-FFE309EF7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D5AB4-B918-56E9-D75E-96653D523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FA214-5950-56DE-0B15-586CDB7A3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257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7B17A-313D-FD6E-929D-8C22DF72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EF748-E628-695A-2026-FCD96080B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467B6-527C-5FF3-A240-4669B6616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4151A-2A06-423C-1BE6-E87F43634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899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46DF-55E2-10F8-B365-9A28B1A9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2E2F7-486C-1501-E6DE-93DCCC990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F92D4-A0D9-3A96-E0E3-4F8D8307C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A61F7-F9CA-79EA-5526-B68FC85C8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00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20FF-DEF4-3170-71E0-BAF6A6FE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AFCBC-8D3C-9072-B960-A2EE9D44C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DF3B4-D0E9-318B-FE30-3B4B94079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FB0FB-E978-C0DF-AD01-0BB3C4891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158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F694-0DFE-5DBA-241F-E013C282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D4515-DBF7-6CF6-9301-2ABFAAC91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50486-BBE4-5B42-45F8-D9B5DC97B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DBE25-5ACF-67C4-712F-70DE03A14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94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B649-A5DD-D90B-EB8E-47F8F0F6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DB7A5-9C0C-7ADB-E2BC-81A281882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A2789-4B53-C588-D56F-FCE179322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54686-1188-B8AF-29CD-D4A4AF59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157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DA172-A56A-F8E4-204A-FB51964E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52A7C-0300-4439-AD6E-3B023CD64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320A3-A34A-A84D-F835-5ED23D509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84844-218E-A6B9-5747-447378FD7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068C9-7DA1-4EF7-9D68-F089B7AF17C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04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652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71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520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92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93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237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36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46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94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42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36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56F4BE6-7DA3-4EEC-8751-6B8C5C416A26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E92BB45-3136-4357-B930-4D8C4B4474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80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gameart.org/content/tiny-creatures-soun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471B-F9F7-EFE2-45FA-816C79E8A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Games Audio Project Slides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9842E-0C60-CF21-CAF9-A3D9AD5E14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By Jack Morris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30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9E81-E9EC-C41D-5BB7-A04E03C2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1188720"/>
          </a:xfrm>
        </p:spPr>
        <p:txBody>
          <a:bodyPr/>
          <a:lstStyle/>
          <a:p>
            <a:r>
              <a:rPr lang="en-GB" dirty="0"/>
              <a:t>Menu BUTTONS (SoUND CreatioN)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93E56-5F35-AA89-C932-6DC34CE1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01143"/>
            <a:ext cx="4850384" cy="4237097"/>
          </a:xfrm>
        </p:spPr>
        <p:txBody>
          <a:bodyPr>
            <a:normAutofit/>
          </a:bodyPr>
          <a:lstStyle/>
          <a:p>
            <a:r>
              <a:rPr lang="en-GB" sz="2400" dirty="0"/>
              <a:t>Original sound was a Pen Click</a:t>
            </a:r>
          </a:p>
          <a:p>
            <a:r>
              <a:rPr lang="en-GB" sz="2400" dirty="0"/>
              <a:t>Amplified by 11.1dB</a:t>
            </a:r>
          </a:p>
          <a:p>
            <a:r>
              <a:rPr lang="en-GB" sz="2400" dirty="0"/>
              <a:t>Low Pass Filter EQ to remove jitters</a:t>
            </a:r>
          </a:p>
          <a:p>
            <a:r>
              <a:rPr lang="en-GB" sz="2400" dirty="0"/>
              <a:t>Split into 3 separate audios files for each sound effect</a:t>
            </a:r>
          </a:p>
          <a:p>
            <a:r>
              <a:rPr lang="en-GB" sz="2400" dirty="0"/>
              <a:t>Pitch altered to give variety</a:t>
            </a:r>
          </a:p>
          <a:p>
            <a:r>
              <a:rPr lang="en-GB" sz="2400" dirty="0"/>
              <a:t>Added Envelope to hover sound to lower attack time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CD4102-A95B-B190-E899-1F67E520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23" y="1879223"/>
            <a:ext cx="5036832" cy="461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A9D6-F7C1-31D9-6665-EA0746492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2EE0-0791-8292-F7F2-4E71D71B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1188720"/>
          </a:xfrm>
        </p:spPr>
        <p:txBody>
          <a:bodyPr/>
          <a:lstStyle/>
          <a:p>
            <a:r>
              <a:rPr lang="en-GB" dirty="0"/>
              <a:t>Menu BUTTONS (IMPLEMENTATION)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5FB5F-C988-9C82-50C2-999774E78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472" y="1589257"/>
            <a:ext cx="4850384" cy="4237097"/>
          </a:xfrm>
        </p:spPr>
        <p:txBody>
          <a:bodyPr>
            <a:normAutofit/>
          </a:bodyPr>
          <a:lstStyle/>
          <a:p>
            <a:r>
              <a:rPr lang="en-GB" sz="2400" dirty="0"/>
              <a:t>Uses Event Handler Interfaces to work out when the mouse enters, clicks on or is released on a button.</a:t>
            </a:r>
          </a:p>
          <a:p>
            <a:r>
              <a:rPr lang="en-GB" sz="2400" dirty="0"/>
              <a:t>Plays the relevant sound effect</a:t>
            </a:r>
          </a:p>
          <a:p>
            <a:r>
              <a:rPr lang="en-GB" sz="2400" dirty="0"/>
              <a:t>Audio Source is attached to Canvas</a:t>
            </a:r>
          </a:p>
          <a:p>
            <a:r>
              <a:rPr lang="en-GB" sz="2400" dirty="0"/>
              <a:t>The Script is attached to all buttons on the Canvas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7F91871-EB5D-9349-28C1-56B5A4A8C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43" y="1589257"/>
            <a:ext cx="4850384" cy="511058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7B82E3-01C5-D129-7B98-788CEA34B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234" y="5038041"/>
            <a:ext cx="3474605" cy="157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7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4A9B-CD2D-4341-070F-E61452A5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8DA6-FBA5-034E-8404-69214732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661924"/>
          </a:xfrm>
        </p:spPr>
        <p:txBody>
          <a:bodyPr>
            <a:normAutofit fontScale="90000"/>
          </a:bodyPr>
          <a:lstStyle/>
          <a:p>
            <a:r>
              <a:rPr lang="en-GB" dirty="0"/>
              <a:t>Footsteps (SoUND Creation)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BA2FB4-C436-CD45-CBB9-157A90E51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691" b="70773"/>
          <a:stretch>
            <a:fillRect/>
          </a:stretch>
        </p:blipFill>
        <p:spPr>
          <a:xfrm>
            <a:off x="341376" y="1132814"/>
            <a:ext cx="5410200" cy="15599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CBEE6F7-601E-2CC8-878E-69E248A1A917}"/>
              </a:ext>
            </a:extLst>
          </p:cNvPr>
          <p:cNvSpPr/>
          <p:nvPr/>
        </p:nvSpPr>
        <p:spPr>
          <a:xfrm>
            <a:off x="524256" y="2920295"/>
            <a:ext cx="5044440" cy="33890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PATH FOOTSTEPS (Gravel):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Trimmed Audio down to one footstep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Pass Filter to remove background noise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(100 Hz, 12dB)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Compressed Audio to add impact: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Normalised perceived loudness to -23 dB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Applied Envelope to trail off audio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6AC8F9-F614-804D-045C-49DB084E5242}"/>
              </a:ext>
            </a:extLst>
          </p:cNvPr>
          <p:cNvSpPr/>
          <p:nvPr/>
        </p:nvSpPr>
        <p:spPr>
          <a:xfrm>
            <a:off x="6348984" y="2752344"/>
            <a:ext cx="5044440" cy="39959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GRASS FOOTSTEPS (Grass Walk):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Trimmed Audio down to one footstep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Amplified audio by 5dB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Compressed Audio to add impact: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Pass Filter to emphasise crunch of grass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Noise Reduction to remove car passing: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AFCC15-F248-802B-777C-7918CF8A0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523" y="5535930"/>
            <a:ext cx="3468402" cy="1078738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DEC766-D73A-8B65-DE91-CFE6C9DD4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040" b="46402"/>
          <a:stretch>
            <a:fillRect/>
          </a:stretch>
        </p:blipFill>
        <p:spPr>
          <a:xfrm>
            <a:off x="5995416" y="1192421"/>
            <a:ext cx="6196584" cy="12573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29270F-D5DD-F049-E427-C38829529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383" y="3917342"/>
            <a:ext cx="2393325" cy="10787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0D15C2-EBAC-1050-0C20-4F1BAA7985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7069"/>
          <a:stretch>
            <a:fillRect/>
          </a:stretch>
        </p:blipFill>
        <p:spPr>
          <a:xfrm>
            <a:off x="675068" y="4408729"/>
            <a:ext cx="2371408" cy="117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6C833-469F-0BA0-BD57-040464A2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7518-85C1-FEDF-EAE2-3AD8A80A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661924"/>
          </a:xfrm>
        </p:spPr>
        <p:txBody>
          <a:bodyPr>
            <a:normAutofit fontScale="90000"/>
          </a:bodyPr>
          <a:lstStyle/>
          <a:p>
            <a:r>
              <a:rPr lang="en-GB" dirty="0"/>
              <a:t>Footsteps (SoUND Creation)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D6CF0C-1CE6-6D08-790D-124D32A92C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60" t="80090" r="5492"/>
          <a:stretch>
            <a:fillRect/>
          </a:stretch>
        </p:blipFill>
        <p:spPr>
          <a:xfrm>
            <a:off x="539496" y="5174503"/>
            <a:ext cx="6134592" cy="144016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7713F63-C3A2-CB63-463D-B2244AEF59F4}"/>
              </a:ext>
            </a:extLst>
          </p:cNvPr>
          <p:cNvSpPr/>
          <p:nvPr/>
        </p:nvSpPr>
        <p:spPr>
          <a:xfrm>
            <a:off x="694944" y="1385331"/>
            <a:ext cx="4303776" cy="34884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STONE FOOTSTEPS (Concrete Walk):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Trimmed down to one footstep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Amplified Audio by 13dB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 pass filter to remove any birds / grass crunches (900 Hz, 6 dB)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Noise Reduction to remove any remaining bird noises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684624-D0FA-3241-54BB-F7877E358F92}"/>
              </a:ext>
            </a:extLst>
          </p:cNvPr>
          <p:cNvSpPr/>
          <p:nvPr/>
        </p:nvSpPr>
        <p:spPr>
          <a:xfrm>
            <a:off x="6935788" y="1280174"/>
            <a:ext cx="4303776" cy="369873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THUMP SFX: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Used in all 3 footstep tracks to simulate the weight of the player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Pitch lowered for the Stone Footsteps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Amplified by 17 dB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Compressed to increase impact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Normalised perceived noise to -30dB (quieter than footstep audio tracks)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C7556B-4477-EC9E-7F97-45611EB0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13" t="54338" r="9762" b="20537"/>
          <a:stretch>
            <a:fillRect/>
          </a:stretch>
        </p:blipFill>
        <p:spPr>
          <a:xfrm>
            <a:off x="7159752" y="5215375"/>
            <a:ext cx="3940288" cy="15031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01A1DD-72B2-5015-CE94-8DAB04E06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36" y="3429000"/>
            <a:ext cx="3423614" cy="1014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562036-F001-FAF5-A2BD-427119EB99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265"/>
          <a:stretch>
            <a:fillRect/>
          </a:stretch>
        </p:blipFill>
        <p:spPr>
          <a:xfrm>
            <a:off x="7444676" y="3019813"/>
            <a:ext cx="2725969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0DE70-4BA7-18B7-8E9D-3B8EFCF4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566E-9D29-EBFB-2FFD-EC63C292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661924"/>
          </a:xfrm>
        </p:spPr>
        <p:txBody>
          <a:bodyPr>
            <a:normAutofit fontScale="90000"/>
          </a:bodyPr>
          <a:lstStyle/>
          <a:p>
            <a:r>
              <a:rPr lang="en-GB" dirty="0"/>
              <a:t>Footsteps (Implementation)</a:t>
            </a:r>
          </a:p>
        </p:txBody>
      </p:sp>
      <p:pic>
        <p:nvPicPr>
          <p:cNvPr id="7" name="Picture 6" descr="A cartoon character in a grass field">
            <a:extLst>
              <a:ext uri="{FF2B5EF4-FFF2-40B4-BE49-F238E27FC236}">
                <a16:creationId xmlns:a16="http://schemas.microsoft.com/office/drawing/2014/main" id="{EBEDCFCF-2AAE-CE15-17C7-D3CDBCE36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1655" y="1251964"/>
            <a:ext cx="1910282" cy="22033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607376-8AF5-B806-D000-5427DDC22FAD}"/>
              </a:ext>
            </a:extLst>
          </p:cNvPr>
          <p:cNvSpPr/>
          <p:nvPr/>
        </p:nvSpPr>
        <p:spPr>
          <a:xfrm>
            <a:off x="10101655" y="3455331"/>
            <a:ext cx="1910282" cy="108664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Overlap Sphere hitbox visible in Editor using ShowGizmos()</a:t>
            </a:r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A3BAC6A-24FD-BEB4-B6C1-D059F2CF2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" r="5582"/>
          <a:stretch>
            <a:fillRect/>
          </a:stretch>
        </p:blipFill>
        <p:spPr>
          <a:xfrm>
            <a:off x="104874" y="1145801"/>
            <a:ext cx="5831297" cy="5575989"/>
          </a:xfrm>
          <a:prstGeom prst="rect">
            <a:avLst/>
          </a:prstGeom>
        </p:spPr>
      </p:pic>
      <p:pic>
        <p:nvPicPr>
          <p:cNvPr id="15" name="Picture 1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CB274A2-E231-B2D5-9A18-CE7B0D5AF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3937" y="4931924"/>
            <a:ext cx="3678000" cy="178986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6915CF-D594-7F02-21D1-3C5991B30AF0}"/>
              </a:ext>
            </a:extLst>
          </p:cNvPr>
          <p:cNvSpPr/>
          <p:nvPr/>
        </p:nvSpPr>
        <p:spPr>
          <a:xfrm>
            <a:off x="6123900" y="4931924"/>
            <a:ext cx="2210037" cy="17898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Logic used to check if player is moving in PlayerController Update()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A7C521-8971-7B5E-CD66-9DCCA76365E7}"/>
              </a:ext>
            </a:extLst>
          </p:cNvPr>
          <p:cNvSpPr/>
          <p:nvPr/>
        </p:nvSpPr>
        <p:spPr>
          <a:xfrm>
            <a:off x="6123900" y="1145801"/>
            <a:ext cx="3678000" cy="36859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Uses Physics.OverlapSphere to check what material the player is standing on (using Layer Masks)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Swaps the sound played to the corresponding material whenever the player leaves / enters a material hitbox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Slightly randomises pitch of sound effects played to reduce repetitiveness</a:t>
            </a:r>
          </a:p>
        </p:txBody>
      </p:sp>
    </p:spTree>
    <p:extLst>
      <p:ext uri="{BB962C8B-B14F-4D97-AF65-F5344CB8AC3E}">
        <p14:creationId xmlns:p14="http://schemas.microsoft.com/office/powerpoint/2010/main" val="3915019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3F8EF-6765-D9D8-6940-C0E2DC48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4507-89FC-B7ED-B2EB-AA58E09E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16" y="231810"/>
            <a:ext cx="5543039" cy="956910"/>
          </a:xfrm>
        </p:spPr>
        <p:txBody>
          <a:bodyPr/>
          <a:lstStyle/>
          <a:p>
            <a:pPr algn="l"/>
            <a:r>
              <a:rPr lang="en-GB" dirty="0"/>
              <a:t>PICK UPS (COIN SFX)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18CB0-4BBE-2F1A-A457-BA5C8EBC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43" y="1287780"/>
            <a:ext cx="4850384" cy="4900168"/>
          </a:xfrm>
        </p:spPr>
        <p:txBody>
          <a:bodyPr>
            <a:normAutofit/>
          </a:bodyPr>
          <a:lstStyle/>
          <a:p>
            <a:r>
              <a:rPr lang="en-GB" sz="1600" dirty="0"/>
              <a:t>Original sound was the sound a glass being flicked</a:t>
            </a:r>
          </a:p>
          <a:p>
            <a:r>
              <a:rPr lang="en-GB" sz="1600" dirty="0"/>
              <a:t> Trimmed audio clipped to only feature best ping</a:t>
            </a:r>
          </a:p>
          <a:p>
            <a:r>
              <a:rPr lang="en-GB" sz="1600" dirty="0"/>
              <a:t>Applied Reverb: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Raised pitch by 3 semitones</a:t>
            </a:r>
          </a:p>
          <a:p>
            <a:r>
              <a:rPr lang="en-GB" sz="1600" dirty="0"/>
              <a:t>Filter Curve EQ to remove background noise:</a:t>
            </a:r>
          </a:p>
          <a:p>
            <a:endParaRPr lang="en-GB" sz="24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10D0DC-64F6-B9D7-405B-493B1CBF26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2" t="36543" b="30684"/>
          <a:stretch>
            <a:fillRect/>
          </a:stretch>
        </p:blipFill>
        <p:spPr>
          <a:xfrm>
            <a:off x="7304862" y="226426"/>
            <a:ext cx="3576592" cy="1686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B25951-A723-9208-7A2F-D515323793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301" b="39718"/>
          <a:stretch>
            <a:fillRect/>
          </a:stretch>
        </p:blipFill>
        <p:spPr>
          <a:xfrm>
            <a:off x="113535" y="2357898"/>
            <a:ext cx="2560917" cy="13799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C5B216-752E-068A-C435-713CBEBCA3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641" t="45312" r="7462" b="6665"/>
          <a:stretch>
            <a:fillRect/>
          </a:stretch>
        </p:blipFill>
        <p:spPr>
          <a:xfrm>
            <a:off x="113535" y="4672939"/>
            <a:ext cx="5913120" cy="2072372"/>
          </a:xfrm>
          <a:prstGeom prst="rect">
            <a:avLst/>
          </a:prstGeom>
        </p:spPr>
      </p:pic>
      <p:pic>
        <p:nvPicPr>
          <p:cNvPr id="11" name="Picture 10" descr="A video game screen capture&#10;&#10;AI-generated content may be incorrect.">
            <a:extLst>
              <a:ext uri="{FF2B5EF4-FFF2-40B4-BE49-F238E27FC236}">
                <a16:creationId xmlns:a16="http://schemas.microsoft.com/office/drawing/2014/main" id="{B645E333-9966-EBD5-4FEF-131424A7D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653" y="312628"/>
            <a:ext cx="944971" cy="79527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495397-0B6C-B7A6-C2AC-3F7E22A882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88" r="5206" b="5686"/>
          <a:stretch>
            <a:fillRect/>
          </a:stretch>
        </p:blipFill>
        <p:spPr>
          <a:xfrm>
            <a:off x="2674452" y="2510392"/>
            <a:ext cx="2375067" cy="1074977"/>
          </a:xfrm>
          <a:prstGeom prst="rect">
            <a:avLst/>
          </a:prstGeom>
        </p:spPr>
      </p:pic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9EFE70F-56E9-7A2D-F512-95AF14A08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740" y="2028601"/>
            <a:ext cx="4887007" cy="31246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2107925-6E0A-F673-1E88-2AF75BABF41E}"/>
              </a:ext>
            </a:extLst>
          </p:cNvPr>
          <p:cNvSpPr/>
          <p:nvPr/>
        </p:nvSpPr>
        <p:spPr>
          <a:xfrm>
            <a:off x="6750740" y="5153237"/>
            <a:ext cx="4887007" cy="13156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Checks for player collision using tag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Plays sound effect with randomised pitch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Destroys the Coin Game Object</a:t>
            </a:r>
          </a:p>
        </p:txBody>
      </p:sp>
    </p:spTree>
    <p:extLst>
      <p:ext uri="{BB962C8B-B14F-4D97-AF65-F5344CB8AC3E}">
        <p14:creationId xmlns:p14="http://schemas.microsoft.com/office/powerpoint/2010/main" val="214599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A6F35-D8AE-06A1-3FE3-B157EE83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1F2C-94B8-2D7F-F659-C7C06A03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16" y="231810"/>
            <a:ext cx="5543039" cy="956910"/>
          </a:xfrm>
        </p:spPr>
        <p:txBody>
          <a:bodyPr/>
          <a:lstStyle/>
          <a:p>
            <a:pPr algn="l"/>
            <a:r>
              <a:rPr lang="en-GB" dirty="0"/>
              <a:t>PICK UPS (Heart SFX)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47971-CA15-18C9-7323-B8DDBBA8AD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74" t="8540" r="13602" b="11806"/>
          <a:stretch>
            <a:fillRect/>
          </a:stretch>
        </p:blipFill>
        <p:spPr>
          <a:xfrm>
            <a:off x="4852658" y="276156"/>
            <a:ext cx="959667" cy="85153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B17C3-B19F-682F-49D9-41D771FAA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83" y="1250326"/>
            <a:ext cx="5044196" cy="241013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D4C802C-A882-FCE7-F592-F02E8DA0CB60}"/>
              </a:ext>
            </a:extLst>
          </p:cNvPr>
          <p:cNvSpPr/>
          <p:nvPr/>
        </p:nvSpPr>
        <p:spPr>
          <a:xfrm>
            <a:off x="528883" y="3766788"/>
            <a:ext cx="4477683" cy="14275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BELL CHIME 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Trimmed clip to one chime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Amplified by 4 dB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Enveloped start  to lower attack time of clip 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15F6C3-3929-9218-2341-470E3611FFA0}"/>
              </a:ext>
            </a:extLst>
          </p:cNvPr>
          <p:cNvSpPr/>
          <p:nvPr/>
        </p:nvSpPr>
        <p:spPr>
          <a:xfrm>
            <a:off x="528883" y="5300701"/>
            <a:ext cx="4477683" cy="14275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KEY JINGLES 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Trimmed clip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Applied fade out to end of clip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Filter Curve EQ to remove harsh key sounds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F6FF4B-CB60-93C3-9DCE-1FD62A2444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7" t="38208" b="8311"/>
          <a:stretch>
            <a:fillRect/>
          </a:stretch>
        </p:blipFill>
        <p:spPr>
          <a:xfrm>
            <a:off x="5178582" y="4725909"/>
            <a:ext cx="6876158" cy="20023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ACDA0E6-DE3C-9B41-5EA1-44C15DA3F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107" y="702716"/>
            <a:ext cx="5634336" cy="28587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F02D18F-B24F-AA3B-55DD-A6588C11DB1B}"/>
              </a:ext>
            </a:extLst>
          </p:cNvPr>
          <p:cNvSpPr/>
          <p:nvPr/>
        </p:nvSpPr>
        <p:spPr>
          <a:xfrm>
            <a:off x="6329107" y="3551486"/>
            <a:ext cx="5634336" cy="4928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dirty="0">
                <a:solidFill>
                  <a:schemeClr val="tx1"/>
                </a:solidFill>
              </a:rPr>
              <a:t>Similar C# code to Coin SFX</a:t>
            </a:r>
          </a:p>
        </p:txBody>
      </p:sp>
    </p:spTree>
    <p:extLst>
      <p:ext uri="{BB962C8B-B14F-4D97-AF65-F5344CB8AC3E}">
        <p14:creationId xmlns:p14="http://schemas.microsoft.com/office/powerpoint/2010/main" val="382829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CBA92-6E03-D0D2-3F0B-BBB5FC9C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8589-14B8-C663-2598-75F4A755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883826"/>
          </a:xfrm>
        </p:spPr>
        <p:txBody>
          <a:bodyPr>
            <a:normAutofit/>
          </a:bodyPr>
          <a:lstStyle/>
          <a:p>
            <a:r>
              <a:rPr lang="en-GB" dirty="0"/>
              <a:t>SLIME (SoUND CreatioN)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BCF8B4-4128-238E-6829-ADE18CF32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2"/>
          <a:stretch>
            <a:fillRect/>
          </a:stretch>
        </p:blipFill>
        <p:spPr>
          <a:xfrm>
            <a:off x="62891" y="1634150"/>
            <a:ext cx="8239884" cy="51604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04DEAC-3A77-A44C-68D1-1256B50F337F}"/>
              </a:ext>
            </a:extLst>
          </p:cNvPr>
          <p:cNvSpPr/>
          <p:nvPr/>
        </p:nvSpPr>
        <p:spPr>
          <a:xfrm>
            <a:off x="8428777" y="1493822"/>
            <a:ext cx="3700332" cy="53008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FLANNEL: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Amplified by 7 dB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 pass filter to remove high squeaks (7000 Hz cutoff, 24 dB roll off)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Adjusted tempo by -10% (slimier feel)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Added subtle reverb: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7D38B0-E252-62EF-2B7C-AF2F67ACA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774"/>
          <a:stretch>
            <a:fillRect/>
          </a:stretch>
        </p:blipFill>
        <p:spPr>
          <a:xfrm>
            <a:off x="9040568" y="3748134"/>
            <a:ext cx="2538814" cy="2679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D9AFF-80BB-C0D4-CA06-4CC5ACDFA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0231" y="162615"/>
            <a:ext cx="1172771" cy="11727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84279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0F9D-ED98-CFE4-CFFD-E409C692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7958-F7BB-ABAA-0FB0-0A7BFBE6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680121"/>
          </a:xfrm>
        </p:spPr>
        <p:txBody>
          <a:bodyPr>
            <a:normAutofit fontScale="90000"/>
          </a:bodyPr>
          <a:lstStyle/>
          <a:p>
            <a:r>
              <a:rPr lang="en-GB" dirty="0"/>
              <a:t>SLIME (SoUND CreatioN)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334F31-32E0-576F-8B61-343C09363637}"/>
              </a:ext>
            </a:extLst>
          </p:cNvPr>
          <p:cNvSpPr/>
          <p:nvPr/>
        </p:nvSpPr>
        <p:spPr>
          <a:xfrm>
            <a:off x="285534" y="1204111"/>
            <a:ext cx="3891203" cy="5160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WATER: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Trimmed down to ~20s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Applied Filter Curve EQ to make water sound “slimier”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Amplified by 2 dB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Positioned in a way so that on average the water ripples peak after the flannel peaks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C05404-C95B-E993-32B0-660000F02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10" t="11466" r="510" b="15625"/>
          <a:stretch>
            <a:fillRect/>
          </a:stretch>
        </p:blipFill>
        <p:spPr>
          <a:xfrm>
            <a:off x="285534" y="2417276"/>
            <a:ext cx="3773557" cy="14757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BA9846-DE4C-6953-B2D7-BBBE2CEAD3E3}"/>
              </a:ext>
            </a:extLst>
          </p:cNvPr>
          <p:cNvSpPr/>
          <p:nvPr/>
        </p:nvSpPr>
        <p:spPr>
          <a:xfrm>
            <a:off x="7916097" y="1195058"/>
            <a:ext cx="3891203" cy="5160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LAUGH: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Slowed tempo down by 30%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Filter Curve EQ to boost middling pitches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Duplicated audio clip, reverse and trimmed to add giggle variation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Lowered pitch by a semitone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Inverted and pitched up by ½ a semitone for another laugh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Enveloped one of he laughs which sounded too harsh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98FAA-743D-B5E0-5E16-F37EF748E8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950" b="4870"/>
          <a:stretch>
            <a:fillRect/>
          </a:stretch>
        </p:blipFill>
        <p:spPr>
          <a:xfrm>
            <a:off x="8039399" y="2390114"/>
            <a:ext cx="3666732" cy="1626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F65CC-5239-CB02-AC47-B7D0D8877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762" y="1920088"/>
            <a:ext cx="3371309" cy="337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2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DAD7-3DDD-FD30-263B-84605790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31BA-1B24-AD65-3D00-E6B35094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62963"/>
            <a:ext cx="7729728" cy="680121"/>
          </a:xfrm>
        </p:spPr>
        <p:txBody>
          <a:bodyPr>
            <a:normAutofit fontScale="90000"/>
          </a:bodyPr>
          <a:lstStyle/>
          <a:p>
            <a:r>
              <a:rPr lang="en-GB" dirty="0"/>
              <a:t>SLIME (IMPLEMENTATION)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F3E2C-70FC-C549-43C1-006D1E6D5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258" y="983192"/>
            <a:ext cx="2393606" cy="5711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AF7ABB-2900-FCE2-3985-D47262172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70" y="1303697"/>
            <a:ext cx="4901662" cy="41238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B7AA62F-EBA8-2DBB-0506-FA9F7850784C}"/>
              </a:ext>
            </a:extLst>
          </p:cNvPr>
          <p:cNvSpPr/>
          <p:nvPr/>
        </p:nvSpPr>
        <p:spPr>
          <a:xfrm>
            <a:off x="181070" y="5427550"/>
            <a:ext cx="4901662" cy="12674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Range which the Slime SFX can be heard from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104AA-E148-1D74-84DA-D84F192940DC}"/>
              </a:ext>
            </a:extLst>
          </p:cNvPr>
          <p:cNvSpPr/>
          <p:nvPr/>
        </p:nvSpPr>
        <p:spPr>
          <a:xfrm>
            <a:off x="5347039" y="1403287"/>
            <a:ext cx="3655911" cy="28337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Sound effect constantly loops in 3D space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Audio gets quieter the further away the player is to the slime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tx1"/>
                </a:solidFill>
              </a:rPr>
              <a:t>Roll off rapidly decreases volume after player gets a certain distance away from the slime</a:t>
            </a:r>
          </a:p>
        </p:txBody>
      </p:sp>
    </p:spTree>
    <p:extLst>
      <p:ext uri="{BB962C8B-B14F-4D97-AF65-F5344CB8AC3E}">
        <p14:creationId xmlns:p14="http://schemas.microsoft.com/office/powerpoint/2010/main" val="1825219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9A0C-022E-063D-D6A5-7A99C9E7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3CC9-B331-AD09-7D92-574BC294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883826"/>
          </a:xfrm>
        </p:spPr>
        <p:txBody>
          <a:bodyPr>
            <a:normAutofit/>
          </a:bodyPr>
          <a:lstStyle/>
          <a:p>
            <a:r>
              <a:rPr lang="en-GB" dirty="0"/>
              <a:t>AMBIENCE (SoUND CreatioN)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24DA4-F5B7-91D2-D65E-91F0F0EE5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8" r="15495" b="5360"/>
          <a:stretch>
            <a:fillRect/>
          </a:stretch>
        </p:blipFill>
        <p:spPr>
          <a:xfrm>
            <a:off x="725230" y="1300533"/>
            <a:ext cx="10741539" cy="531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84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2827-5DC9-51E0-D23B-23E21CB12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C932-D317-9144-BF27-C57C6B25E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9424"/>
            <a:ext cx="7729728" cy="535265"/>
          </a:xfrm>
        </p:spPr>
        <p:txBody>
          <a:bodyPr>
            <a:normAutofit fontScale="90000"/>
          </a:bodyPr>
          <a:lstStyle/>
          <a:p>
            <a:r>
              <a:rPr lang="en-GB" dirty="0"/>
              <a:t>AMBIENCE (SoUND CreatioN)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B52941-2254-ADED-CB7D-F35F1A2DA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231734"/>
              </p:ext>
            </p:extLst>
          </p:nvPr>
        </p:nvGraphicFramePr>
        <p:xfrm>
          <a:off x="506995" y="697754"/>
          <a:ext cx="11497900" cy="598887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11868">
                  <a:extLst>
                    <a:ext uri="{9D8B030D-6E8A-4147-A177-3AD203B41FA5}">
                      <a16:colId xmlns:a16="http://schemas.microsoft.com/office/drawing/2014/main" val="4109676152"/>
                    </a:ext>
                  </a:extLst>
                </a:gridCol>
                <a:gridCol w="9286032">
                  <a:extLst>
                    <a:ext uri="{9D8B030D-6E8A-4147-A177-3AD203B41FA5}">
                      <a16:colId xmlns:a16="http://schemas.microsoft.com/office/drawing/2014/main" val="1061097691"/>
                    </a:ext>
                  </a:extLst>
                </a:gridCol>
              </a:tblGrid>
              <a:tr h="343207">
                <a:tc>
                  <a:txBody>
                    <a:bodyPr/>
                    <a:lstStyle/>
                    <a:p>
                      <a:r>
                        <a:rPr lang="en-GB" dirty="0"/>
                        <a:t>SOUND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205918"/>
                  </a:ext>
                </a:extLst>
              </a:tr>
              <a:tr h="163023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LEAVES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High pass filter to remove any low rumbling (120 Hz cutoff, 12 dB)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Graphic EQ to slightly boost audio between 3 and 6 </a:t>
                      </a:r>
                      <a:r>
                        <a:rPr lang="en-GB" sz="1600" dirty="0" err="1"/>
                        <a:t>KHz</a:t>
                      </a:r>
                      <a:endParaRPr lang="en-GB" sz="16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Normalised volume to -1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Duplicated clip (40% left + 40% right) and combined clips into a stereo file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Used envelope tool to mimic wind bursts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There are also bird tweets in the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26506"/>
                  </a:ext>
                </a:extLst>
              </a:tr>
              <a:tr h="39468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WOOD CREAKS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Compressed audio to reduce sound difference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GB" sz="1600" dirty="0"/>
                    </a:p>
                    <a:p>
                      <a:pPr marL="285750" indent="-285750">
                        <a:buFontTx/>
                        <a:buChar char="-"/>
                      </a:pPr>
                      <a:endParaRPr lang="en-GB" sz="1600" dirty="0"/>
                    </a:p>
                    <a:p>
                      <a:pPr marL="285750" indent="-285750">
                        <a:buFontTx/>
                        <a:buChar char="-"/>
                      </a:pPr>
                      <a:endParaRPr lang="en-GB" sz="1600" dirty="0"/>
                    </a:p>
                    <a:p>
                      <a:pPr marL="285750" indent="-285750">
                        <a:buFontTx/>
                        <a:buChar char="-"/>
                      </a:pPr>
                      <a:endParaRPr lang="en-GB" sz="1600" dirty="0"/>
                    </a:p>
                    <a:p>
                      <a:pPr marL="285750" indent="-285750">
                        <a:buFontTx/>
                        <a:buChar char="-"/>
                      </a:pPr>
                      <a:endParaRPr lang="en-GB" sz="1600" dirty="0"/>
                    </a:p>
                    <a:p>
                      <a:pPr marL="0" indent="0">
                        <a:buFontTx/>
                        <a:buNone/>
                      </a:pPr>
                      <a:endParaRPr lang="en-GB" sz="16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High pass at 120 Hz to remove low rumbling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Filter Curve EQ to boost wood creaking pitch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Added Subtle Reverb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Noise Reduction to remove cars passing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Pitch Lowered by 1 semitone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Converted clip to stereo file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Place clips so they didn’t peak at the same time as leaves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sz="1600" dirty="0"/>
                        <a:t>Enveloped wood creak (natural feel)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77075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A61759E-B0F5-057F-219F-9798399DF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052" b="6464"/>
          <a:stretch>
            <a:fillRect/>
          </a:stretch>
        </p:blipFill>
        <p:spPr>
          <a:xfrm>
            <a:off x="3072402" y="3038690"/>
            <a:ext cx="2739923" cy="1110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BBAD4E-F043-9E23-EC9D-9D0CF320B5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204"/>
          <a:stretch>
            <a:fillRect/>
          </a:stretch>
        </p:blipFill>
        <p:spPr>
          <a:xfrm>
            <a:off x="7415785" y="2825610"/>
            <a:ext cx="4481865" cy="1687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21C8A0-2329-73F9-F972-189813D14B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757"/>
          <a:stretch>
            <a:fillRect/>
          </a:stretch>
        </p:blipFill>
        <p:spPr>
          <a:xfrm>
            <a:off x="8552443" y="4594872"/>
            <a:ext cx="2022005" cy="21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63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47A2-FC6F-13D4-0C39-201B61EC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8D5B-5984-5ACE-9302-5BB24B76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243332"/>
            <a:ext cx="9103803" cy="652961"/>
          </a:xfrm>
        </p:spPr>
        <p:txBody>
          <a:bodyPr>
            <a:normAutofit fontScale="90000"/>
          </a:bodyPr>
          <a:lstStyle/>
          <a:p>
            <a:r>
              <a:rPr lang="en-GB" dirty="0"/>
              <a:t>AMBIENCE (Sound Creation + IMPLEMENTATION)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E16B58-9CEC-EE1A-1048-3FBDC47EE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574293"/>
              </p:ext>
            </p:extLst>
          </p:nvPr>
        </p:nvGraphicFramePr>
        <p:xfrm>
          <a:off x="543209" y="1059892"/>
          <a:ext cx="11497900" cy="151339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11868">
                  <a:extLst>
                    <a:ext uri="{9D8B030D-6E8A-4147-A177-3AD203B41FA5}">
                      <a16:colId xmlns:a16="http://schemas.microsoft.com/office/drawing/2014/main" val="4109676152"/>
                    </a:ext>
                  </a:extLst>
                </a:gridCol>
                <a:gridCol w="9286032">
                  <a:extLst>
                    <a:ext uri="{9D8B030D-6E8A-4147-A177-3AD203B41FA5}">
                      <a16:colId xmlns:a16="http://schemas.microsoft.com/office/drawing/2014/main" val="1061097691"/>
                    </a:ext>
                  </a:extLst>
                </a:gridCol>
              </a:tblGrid>
              <a:tr h="318388">
                <a:tc>
                  <a:txBody>
                    <a:bodyPr/>
                    <a:lstStyle/>
                    <a:p>
                      <a:r>
                        <a:rPr lang="en-GB" dirty="0"/>
                        <a:t>SOUND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205918"/>
                  </a:ext>
                </a:extLst>
              </a:tr>
              <a:tr h="114763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SNAPS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Trimmed down clip, duplicated and split into multiple parts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High Pass Filter at 120 Hz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Noise Reduction to remove background static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2650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79F9D03-8845-0BC9-6D89-B07C7AC8D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09" y="2921785"/>
            <a:ext cx="3001517" cy="23416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B846E72-B4A8-6347-76E1-8090AB56E8B1}"/>
              </a:ext>
            </a:extLst>
          </p:cNvPr>
          <p:cNvSpPr/>
          <p:nvPr/>
        </p:nvSpPr>
        <p:spPr>
          <a:xfrm>
            <a:off x="543209" y="5263394"/>
            <a:ext cx="3001517" cy="12674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Empty Game Object which holds the Ambience Audio 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D9FA26-3F1E-2FA8-F113-185F3721376F}"/>
              </a:ext>
            </a:extLst>
          </p:cNvPr>
          <p:cNvSpPr/>
          <p:nvPr/>
        </p:nvSpPr>
        <p:spPr>
          <a:xfrm>
            <a:off x="3880378" y="2921785"/>
            <a:ext cx="4892430" cy="3534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Constantly loops</a:t>
            </a:r>
          </a:p>
          <a:p>
            <a:pPr marL="285750" indent="-285750">
              <a:buFontTx/>
              <a:buChar char="-"/>
            </a:pPr>
            <a:endParaRPr lang="en-GB" sz="2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Uses 2D space so that the volume remains at the same level throughout the game space</a:t>
            </a:r>
          </a:p>
          <a:p>
            <a:pPr marL="285750" indent="-285750">
              <a:buFontTx/>
              <a:buChar char="-"/>
            </a:pPr>
            <a:endParaRPr lang="en-GB" sz="24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GB" sz="2400" dirty="0">
                <a:solidFill>
                  <a:schemeClr val="tx1"/>
                </a:solidFill>
              </a:rPr>
              <a:t>Lowered volume so that other sound effects aren’t drowned out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F80D14-8B75-B7E2-7E70-A9C62DAAF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315" y="2907349"/>
            <a:ext cx="301032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06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D988-1C30-2EF4-6FA6-6B3AD1DC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012D-D316-FDF5-B7BB-C55E0389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510" y="243332"/>
            <a:ext cx="7729728" cy="883826"/>
          </a:xfrm>
        </p:spPr>
        <p:txBody>
          <a:bodyPr>
            <a:normAutofit/>
          </a:bodyPr>
          <a:lstStyle/>
          <a:p>
            <a:r>
              <a:rPr lang="en-GB" dirty="0"/>
              <a:t>Dialogue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38C109-313D-339C-0961-7F34E2D8C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1"/>
          <a:stretch>
            <a:fillRect/>
          </a:stretch>
        </p:blipFill>
        <p:spPr>
          <a:xfrm>
            <a:off x="814811" y="1162549"/>
            <a:ext cx="10239469" cy="37350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983985-7F27-95C1-6C93-F8553174D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07" y="4932960"/>
            <a:ext cx="3714259" cy="1780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79CF21-DB54-C8EC-0DCC-EF1F1BB5BE7A}"/>
              </a:ext>
            </a:extLst>
          </p:cNvPr>
          <p:cNvSpPr txBox="1"/>
          <p:nvPr/>
        </p:nvSpPr>
        <p:spPr>
          <a:xfrm>
            <a:off x="4318502" y="5161582"/>
            <a:ext cx="6980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000" dirty="0"/>
              <a:t>Cut off any unnecessary audio</a:t>
            </a:r>
          </a:p>
          <a:p>
            <a:pPr marL="285750" indent="-285750">
              <a:buFontTx/>
              <a:buChar char="-"/>
            </a:pPr>
            <a:r>
              <a:rPr lang="en-GB" sz="2000" dirty="0"/>
              <a:t>Applied Voice Isolation to lower background noise and switched to mono</a:t>
            </a:r>
          </a:p>
          <a:p>
            <a:pPr marL="285750" indent="-285750">
              <a:buFontTx/>
              <a:buChar char="-"/>
            </a:pPr>
            <a:r>
              <a:rPr lang="en-GB" sz="2000" dirty="0"/>
              <a:t>Split audio for characters into two separate audio files</a:t>
            </a:r>
          </a:p>
        </p:txBody>
      </p:sp>
    </p:spTree>
    <p:extLst>
      <p:ext uri="{BB962C8B-B14F-4D97-AF65-F5344CB8AC3E}">
        <p14:creationId xmlns:p14="http://schemas.microsoft.com/office/powerpoint/2010/main" val="1464115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F686-D6CF-D211-7B19-C0B1C0AC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831D6-8F03-C470-A8D8-FE5039E9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883826"/>
          </a:xfrm>
        </p:spPr>
        <p:txBody>
          <a:bodyPr>
            <a:normAutofit/>
          </a:bodyPr>
          <a:lstStyle/>
          <a:p>
            <a:r>
              <a:rPr lang="en-GB" dirty="0"/>
              <a:t>Dialogue (TROLL)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CD4E1-B043-9C36-D0B4-CE7A3E258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92"/>
          <a:stretch>
            <a:fillRect/>
          </a:stretch>
        </p:blipFill>
        <p:spPr>
          <a:xfrm>
            <a:off x="144854" y="1221662"/>
            <a:ext cx="11887201" cy="22740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47FFD0-546F-4AF7-DD29-10B9742BE1D0}"/>
              </a:ext>
            </a:extLst>
          </p:cNvPr>
          <p:cNvSpPr txBox="1"/>
          <p:nvPr/>
        </p:nvSpPr>
        <p:spPr>
          <a:xfrm>
            <a:off x="244444" y="3612333"/>
            <a:ext cx="1139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Amplified audio by 5 dB to match female voice in volume</a:t>
            </a:r>
          </a:p>
          <a:p>
            <a:pPr marL="285750" indent="-285750">
              <a:buFontTx/>
              <a:buChar char="-"/>
            </a:pPr>
            <a:r>
              <a:rPr lang="en-GB" dirty="0"/>
              <a:t>Graphic EQ to enhance male voice and reduce background hum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B33C5-69F3-B5FF-2343-EF7A4717A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68" y="4375264"/>
            <a:ext cx="4930195" cy="232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89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6F53-275F-4B5B-4575-23F3ACFE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B691-BABE-7788-AA7C-DD249505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883826"/>
          </a:xfrm>
        </p:spPr>
        <p:txBody>
          <a:bodyPr>
            <a:normAutofit/>
          </a:bodyPr>
          <a:lstStyle/>
          <a:p>
            <a:r>
              <a:rPr lang="en-GB" dirty="0"/>
              <a:t>Dialogue (QUEEN)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7DE7A-B407-B19C-9748-C6CE4BC69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75" b="43218"/>
          <a:stretch>
            <a:fillRect/>
          </a:stretch>
        </p:blipFill>
        <p:spPr>
          <a:xfrm>
            <a:off x="63374" y="1315557"/>
            <a:ext cx="11751398" cy="2103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53977-F7CC-4352-527C-5750051D8835}"/>
              </a:ext>
            </a:extLst>
          </p:cNvPr>
          <p:cNvSpPr txBox="1"/>
          <p:nvPr/>
        </p:nvSpPr>
        <p:spPr>
          <a:xfrm>
            <a:off x="226337" y="3576119"/>
            <a:ext cx="11470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Graphic EQ used to enhance female voice and remove background hum</a:t>
            </a:r>
          </a:p>
          <a:p>
            <a:pPr marL="285750" indent="-285750">
              <a:buFontTx/>
              <a:buChar char="-"/>
            </a:pPr>
            <a:r>
              <a:rPr lang="en-GB" dirty="0"/>
              <a:t>Compressed volume of the loud parts to remove peaking of the microphone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1E637-EE8E-D42E-4972-C3F141B86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48" y="4363678"/>
            <a:ext cx="4572000" cy="2188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B388AF-321F-0713-D6F4-3FDD5C51A6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747"/>
          <a:stretch>
            <a:fillRect/>
          </a:stretch>
        </p:blipFill>
        <p:spPr>
          <a:xfrm>
            <a:off x="6563683" y="4454305"/>
            <a:ext cx="4423458" cy="20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71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A668-FF23-09A6-A7D0-A5473BEB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43DD-B790-21AF-296B-BFCFE87A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3332"/>
            <a:ext cx="7729728" cy="883826"/>
          </a:xfrm>
        </p:spPr>
        <p:txBody>
          <a:bodyPr>
            <a:normAutofit/>
          </a:bodyPr>
          <a:lstStyle/>
          <a:p>
            <a:r>
              <a:rPr lang="en-GB" dirty="0"/>
              <a:t>Dialogue (IMPLEMENTATION)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CC425-F57E-01F5-9A34-81A6076F8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8" b="12211"/>
          <a:stretch>
            <a:fillRect/>
          </a:stretch>
        </p:blipFill>
        <p:spPr>
          <a:xfrm>
            <a:off x="306677" y="1294646"/>
            <a:ext cx="3553703" cy="2451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7679F6-9358-04D4-6909-BBFD248CD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118" y="1294646"/>
            <a:ext cx="2268205" cy="54366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555D5E-E503-24EF-FC53-251C0B1776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912" y="1294646"/>
            <a:ext cx="2268206" cy="54196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903BD6D-7DCB-12CF-177A-DD1DBB5C83B1}"/>
              </a:ext>
            </a:extLst>
          </p:cNvPr>
          <p:cNvSpPr/>
          <p:nvPr/>
        </p:nvSpPr>
        <p:spPr>
          <a:xfrm>
            <a:off x="3860380" y="1294646"/>
            <a:ext cx="3001517" cy="245178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Range which audio can be heard </a:t>
            </a:r>
          </a:p>
          <a:p>
            <a:pPr algn="ctr"/>
            <a:r>
              <a:rPr lang="en-GB" sz="2000" dirty="0"/>
              <a:t>(slightly larger than slime range)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9606A4-CF7D-D8DA-4C5D-52C8091EA262}"/>
              </a:ext>
            </a:extLst>
          </p:cNvPr>
          <p:cNvSpPr txBox="1"/>
          <p:nvPr/>
        </p:nvSpPr>
        <p:spPr>
          <a:xfrm>
            <a:off x="371192" y="4037846"/>
            <a:ext cx="64907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000" dirty="0"/>
              <a:t>2 separate audio sources, one for queen one </a:t>
            </a:r>
            <a:r>
              <a:rPr lang="en-GB" sz="2000"/>
              <a:t>for troll</a:t>
            </a:r>
            <a:endParaRPr lang="en-GB" sz="2000" dirty="0"/>
          </a:p>
          <a:p>
            <a:pPr marL="285750" indent="-285750">
              <a:buFontTx/>
              <a:buChar char="-"/>
            </a:pPr>
            <a:endParaRPr lang="en-GB" sz="2000" dirty="0"/>
          </a:p>
          <a:p>
            <a:pPr marL="285750" indent="-285750">
              <a:buFontTx/>
              <a:buChar char="-"/>
            </a:pPr>
            <a:r>
              <a:rPr lang="en-GB" sz="2000" dirty="0"/>
              <a:t>3D spatial blend with custom roll off to create localised sound</a:t>
            </a:r>
          </a:p>
          <a:p>
            <a:pPr marL="285750" indent="-285750">
              <a:buFontTx/>
              <a:buChar char="-"/>
            </a:pPr>
            <a:endParaRPr lang="en-GB" sz="2000" dirty="0"/>
          </a:p>
          <a:p>
            <a:pPr marL="285750" indent="-285750">
              <a:buFontTx/>
              <a:buChar char="-"/>
            </a:pPr>
            <a:r>
              <a:rPr lang="en-GB" sz="2000" dirty="0"/>
              <a:t>Queen has lower volume as dialogue ended up louder</a:t>
            </a:r>
          </a:p>
        </p:txBody>
      </p:sp>
    </p:spTree>
    <p:extLst>
      <p:ext uri="{BB962C8B-B14F-4D97-AF65-F5344CB8AC3E}">
        <p14:creationId xmlns:p14="http://schemas.microsoft.com/office/powerpoint/2010/main" val="1876149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BD2E-B010-879D-7CDC-F403EDB8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BAA2A-442E-3E81-F11C-F674141C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3444"/>
            <a:ext cx="7729728" cy="994529"/>
          </a:xfrm>
        </p:spPr>
        <p:txBody>
          <a:bodyPr/>
          <a:lstStyle/>
          <a:p>
            <a:r>
              <a:rPr lang="en-GB" dirty="0"/>
              <a:t>Hand-MADE Sounds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D99F40-09B5-1ABF-60F3-D26EF71F0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608312"/>
              </p:ext>
            </p:extLst>
          </p:nvPr>
        </p:nvGraphicFramePr>
        <p:xfrm>
          <a:off x="540191" y="1398719"/>
          <a:ext cx="5300772" cy="534573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29106">
                  <a:extLst>
                    <a:ext uri="{9D8B030D-6E8A-4147-A177-3AD203B41FA5}">
                      <a16:colId xmlns:a16="http://schemas.microsoft.com/office/drawing/2014/main" val="181970994"/>
                    </a:ext>
                  </a:extLst>
                </a:gridCol>
                <a:gridCol w="2671666">
                  <a:extLst>
                    <a:ext uri="{9D8B030D-6E8A-4147-A177-3AD203B41FA5}">
                      <a16:colId xmlns:a16="http://schemas.microsoft.com/office/drawing/2014/main" val="628041768"/>
                    </a:ext>
                  </a:extLst>
                </a:gridCol>
              </a:tblGrid>
              <a:tr h="630181">
                <a:tc>
                  <a:txBody>
                    <a:bodyPr/>
                    <a:lstStyle/>
                    <a:p>
                      <a:r>
                        <a:rPr lang="en-GB" dirty="0"/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How sound was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850769"/>
                  </a:ext>
                </a:extLst>
              </a:tr>
              <a:tr h="672237">
                <a:tc>
                  <a:txBody>
                    <a:bodyPr/>
                    <a:lstStyle/>
                    <a:p>
                      <a:r>
                        <a:rPr lang="en-GB" dirty="0"/>
                        <a:t>Penclick.mp3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By pressing the button on a retractable 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520596"/>
                  </a:ext>
                </a:extLst>
              </a:tr>
              <a:tr h="672237">
                <a:tc>
                  <a:txBody>
                    <a:bodyPr/>
                    <a:lstStyle/>
                    <a:p>
                      <a:r>
                        <a:rPr lang="en-GB" dirty="0"/>
                        <a:t>Gravel.m4a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By walking on loose shingle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250371"/>
                  </a:ext>
                </a:extLst>
              </a:tr>
              <a:tr h="672237">
                <a:tc>
                  <a:txBody>
                    <a:bodyPr/>
                    <a:lstStyle/>
                    <a:p>
                      <a:r>
                        <a:rPr lang="en-GB" dirty="0"/>
                        <a:t>Thump.m4a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Banging on the underside of a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21061"/>
                  </a:ext>
                </a:extLst>
              </a:tr>
              <a:tr h="672237">
                <a:tc>
                  <a:txBody>
                    <a:bodyPr/>
                    <a:lstStyle/>
                    <a:p>
                      <a:r>
                        <a:rPr lang="en-GB" dirty="0"/>
                        <a:t>GrassWalk.m4a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By walking on long grass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809235"/>
                  </a:ext>
                </a:extLst>
              </a:tr>
              <a:tr h="672237">
                <a:tc>
                  <a:txBody>
                    <a:bodyPr/>
                    <a:lstStyle/>
                    <a:p>
                      <a:r>
                        <a:rPr lang="en-GB" dirty="0"/>
                        <a:t>ConcreteWalk.m4a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By walking on garden paving slabs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528228"/>
                  </a:ext>
                </a:extLst>
              </a:tr>
              <a:tr h="672237">
                <a:tc>
                  <a:txBody>
                    <a:bodyPr/>
                    <a:lstStyle/>
                    <a:p>
                      <a:r>
                        <a:rPr lang="en-GB" dirty="0"/>
                        <a:t>CoinPickUp.m4a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Flicking the upper part of a glass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73528"/>
                  </a:ext>
                </a:extLst>
              </a:tr>
              <a:tr h="672237">
                <a:tc>
                  <a:txBody>
                    <a:bodyPr/>
                    <a:lstStyle/>
                    <a:p>
                      <a:r>
                        <a:rPr lang="en-GB" dirty="0"/>
                        <a:t>Snaps2.m4a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Stepping on shed eucalyptus bark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08324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3C45D4-BFD8-41B4-B981-0F6CE0CDF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055265"/>
              </p:ext>
            </p:extLst>
          </p:nvPr>
        </p:nvGraphicFramePr>
        <p:xfrm>
          <a:off x="6095999" y="1420077"/>
          <a:ext cx="5781870" cy="494624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0935">
                  <a:extLst>
                    <a:ext uri="{9D8B030D-6E8A-4147-A177-3AD203B41FA5}">
                      <a16:colId xmlns:a16="http://schemas.microsoft.com/office/drawing/2014/main" val="181970994"/>
                    </a:ext>
                  </a:extLst>
                </a:gridCol>
                <a:gridCol w="2890935">
                  <a:extLst>
                    <a:ext uri="{9D8B030D-6E8A-4147-A177-3AD203B41FA5}">
                      <a16:colId xmlns:a16="http://schemas.microsoft.com/office/drawing/2014/main" val="628041768"/>
                    </a:ext>
                  </a:extLst>
                </a:gridCol>
              </a:tblGrid>
              <a:tr h="386493">
                <a:tc>
                  <a:txBody>
                    <a:bodyPr/>
                    <a:lstStyle/>
                    <a:p>
                      <a:r>
                        <a:rPr lang="en-GB" dirty="0"/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How sound was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850769"/>
                  </a:ext>
                </a:extLst>
              </a:tr>
              <a:tr h="759348">
                <a:tc>
                  <a:txBody>
                    <a:bodyPr/>
                    <a:lstStyle/>
                    <a:p>
                      <a:r>
                        <a:rPr lang="en-GB" dirty="0"/>
                        <a:t>BellChime.mp3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Gently ringing an old garden bell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520596"/>
                  </a:ext>
                </a:extLst>
              </a:tr>
              <a:tr h="721501">
                <a:tc>
                  <a:txBody>
                    <a:bodyPr/>
                    <a:lstStyle/>
                    <a:p>
                      <a:r>
                        <a:rPr lang="en-GB" dirty="0"/>
                        <a:t>Keys.mp3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Gently shaking a keychain of keys together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250371"/>
                  </a:ext>
                </a:extLst>
              </a:tr>
              <a:tr h="721501">
                <a:tc>
                  <a:txBody>
                    <a:bodyPr/>
                    <a:lstStyle/>
                    <a:p>
                      <a:r>
                        <a:rPr lang="en-GB" dirty="0"/>
                        <a:t>Flannel.m4a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Rinsing a wet flannel and squeezing it repeatedly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21061"/>
                  </a:ext>
                </a:extLst>
              </a:tr>
              <a:tr h="721501">
                <a:tc>
                  <a:txBody>
                    <a:bodyPr/>
                    <a:lstStyle/>
                    <a:p>
                      <a:r>
                        <a:rPr lang="en-GB" dirty="0"/>
                        <a:t>Water.m4a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Breaking surface tension of water using fingers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809235"/>
                  </a:ext>
                </a:extLst>
              </a:tr>
              <a:tr h="721501">
                <a:tc>
                  <a:txBody>
                    <a:bodyPr/>
                    <a:lstStyle/>
                    <a:p>
                      <a:r>
                        <a:rPr lang="en-GB" dirty="0"/>
                        <a:t>Leaves1.m4a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Gently shaking a bush in the wind. Includes bird’s tweets as background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528228"/>
                  </a:ext>
                </a:extLst>
              </a:tr>
              <a:tr h="721501">
                <a:tc>
                  <a:txBody>
                    <a:bodyPr/>
                    <a:lstStyle/>
                    <a:p>
                      <a:r>
                        <a:rPr lang="en-GB" dirty="0"/>
                        <a:t>WoodCreak.m4a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Shaking a pile of chopped branches together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73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562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9AEC-2DF0-2255-F587-D88A4590D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3444"/>
            <a:ext cx="7729728" cy="994529"/>
          </a:xfrm>
        </p:spPr>
        <p:txBody>
          <a:bodyPr/>
          <a:lstStyle/>
          <a:p>
            <a:r>
              <a:rPr lang="en-GB" dirty="0"/>
              <a:t>Sound ORIGINS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BADC9-E785-AB9C-2915-D6DE1879A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976" y="1405771"/>
            <a:ext cx="7729728" cy="3101983"/>
          </a:xfrm>
        </p:spPr>
        <p:txBody>
          <a:bodyPr/>
          <a:lstStyle/>
          <a:p>
            <a:r>
              <a:rPr lang="en-GB" sz="2400" dirty="0"/>
              <a:t>Most sounds were recorded by me and are listed on the Recording Details Template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The Laugh.ogg Sound Effect used for the slime laughing can be found here: </a:t>
            </a:r>
            <a:r>
              <a:rPr lang="en-GB" sz="2400" u="sng" dirty="0">
                <a:hlinkClick r:id="rId2"/>
              </a:rPr>
              <a:t>https://opengameart.org/content/tiny-creatures-sounds</a:t>
            </a:r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437441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274</TotalTime>
  <Words>1178</Words>
  <Application>Microsoft Office PowerPoint</Application>
  <PresentationFormat>Widescreen</PresentationFormat>
  <Paragraphs>241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Gill Sans MT</vt:lpstr>
      <vt:lpstr>Parcel</vt:lpstr>
      <vt:lpstr>Games Audio Project Slides</vt:lpstr>
      <vt:lpstr>Menu BUTTONS (SoUND CreatioN)</vt:lpstr>
      <vt:lpstr>Menu BUTTONS (IMPLEMENTATION)</vt:lpstr>
      <vt:lpstr>Footsteps (SoUND Creation)</vt:lpstr>
      <vt:lpstr>Footsteps (SoUND Creation)</vt:lpstr>
      <vt:lpstr>Footsteps (Implementation)</vt:lpstr>
      <vt:lpstr>PICK UPS (COIN SFX)</vt:lpstr>
      <vt:lpstr>PICK UPS (Heart SFX)</vt:lpstr>
      <vt:lpstr>SLIME (SoUND CreatioN)</vt:lpstr>
      <vt:lpstr>SLIME (SoUND CreatioN)</vt:lpstr>
      <vt:lpstr>SLIME (IMPLEMENTATION)</vt:lpstr>
      <vt:lpstr>AMBIENCE (SoUND CreatioN)</vt:lpstr>
      <vt:lpstr>AMBIENCE (SoUND CreatioN)</vt:lpstr>
      <vt:lpstr>AMBIENCE (Sound Creation + IMPLEMENTATION)</vt:lpstr>
      <vt:lpstr>Dialogue </vt:lpstr>
      <vt:lpstr>Dialogue (TROLL)</vt:lpstr>
      <vt:lpstr>Dialogue (QUEEN)</vt:lpstr>
      <vt:lpstr>Dialogue (IMPLEMENTATION)</vt:lpstr>
      <vt:lpstr>Hand-MADE Sounds</vt:lpstr>
      <vt:lpstr>Sound ORIGINS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m</dc:creator>
  <cp:lastModifiedBy>Jack Morris (s5707515)</cp:lastModifiedBy>
  <cp:revision>12</cp:revision>
  <dcterms:created xsi:type="dcterms:W3CDTF">2026-01-12T23:31:24Z</dcterms:created>
  <dcterms:modified xsi:type="dcterms:W3CDTF">2026-01-13T16:20:03Z</dcterms:modified>
</cp:coreProperties>
</file>